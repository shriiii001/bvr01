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Nunito Semi Bold"/>
      <p:regular r:id="rId21"/>
    </p:embeddedFont>
    <p:embeddedFont>
      <p:font typeface="Nunito Semi Bold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  <p:embeddedFont>
      <p:font typeface="PT Sans"/>
      <p:regular r:id="rId25"/>
    </p:embeddedFont>
    <p:embeddedFont>
      <p:font typeface="PT Sa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2440900"/>
            <a:ext cx="2951321" cy="449818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2512695"/>
            <a:ext cx="266414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INTERNSHIP PROGRESS REPORT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986445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BVRGym: Reinforcement Learning for Missile Evasion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47534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Beyond Visual Range (BVR) Missile Evasion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40567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Srashti Patel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7057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BVRGym?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048947"/>
            <a:ext cx="3442335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BVRGym is a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reinforcement learning environment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that combines high-fidelity flight dynamics with modern deep RL techniques to create a realistic air combat simulation.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562475"/>
            <a:ext cx="3442335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on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JSBSim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accurate flight physics and a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Python-based RL pipeline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using Proximal Policy Optimization (PPO), it provides a research platform for developing intelligent evasive maneuver policies.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357961" y="2072878"/>
            <a:ext cx="307669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Simulation Components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57961" y="266414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F-16 fighter aircraft controlled by trained policy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357961" y="3513892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Threat: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One or more AIM missiles with pursuit logic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57961" y="4363641"/>
            <a:ext cx="34423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Goal: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Train adaptive evasive maneuvers in real-time scenarios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4699" y="680204"/>
            <a:ext cx="4559975" cy="569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Nature of the Entities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164699" y="1540788"/>
            <a:ext cx="7787402" cy="3062407"/>
          </a:xfrm>
          <a:prstGeom prst="roundRect">
            <a:avLst>
              <a:gd name="adj" fmla="val 9493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1274" y="1757363"/>
            <a:ext cx="2279928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F-16 (Agent)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81274" y="2158484"/>
            <a:ext cx="7354253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Controlled by a Reinforcement Learning policy that observes the tactical environment and executes continuous flight maneuvers.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81274" y="2894767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Observations: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81274" y="3321010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Relative missile position vector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81274" y="3698796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 elapsed since launch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81274" y="4076581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Velocity, altitude, heading angles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64699" y="4796909"/>
            <a:ext cx="7787402" cy="2752368"/>
          </a:xfrm>
          <a:prstGeom prst="roundRect">
            <a:avLst>
              <a:gd name="adj" fmla="val 10562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1274" y="5013484"/>
            <a:ext cx="2279928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Missile (Adversary)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381274" y="5414605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Physics-based pursuit system that actively tracks and attempts to intercept the F-16.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81274" y="5840849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Possible Outcomes: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81274" y="6267093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Successful intercept (hit aircraft)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81274" y="6644878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 loss (tracking failure)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81274" y="7022663"/>
            <a:ext cx="735425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Ground collision (terrain impact)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568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Learning Objective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798677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system trains the F-16 to develop sophisticated survival strategies through continuous interaction with the threat environment.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83392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3210282"/>
            <a:ext cx="6357818" cy="3048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837724" y="3390900"/>
            <a:ext cx="30434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Maximize Survival Time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388643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Extend engagement duration through effective maneuvering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434858" y="283392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3210282"/>
            <a:ext cx="6357818" cy="3048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7434858" y="3390900"/>
            <a:ext cx="37139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Increase Separation Distance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34858" y="388643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and maintain distance from incoming missile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7724" y="468820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5064562"/>
            <a:ext cx="6357818" cy="3048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24" y="5245179"/>
            <a:ext cx="38355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Maintain Safe Flight Envelope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724" y="574071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Avoid stall conditions and ground collision risks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434858" y="468820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434858" y="5064562"/>
            <a:ext cx="6357818" cy="3048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8" name="Text 16"/>
          <p:cNvSpPr/>
          <p:nvPr/>
        </p:nvSpPr>
        <p:spPr>
          <a:xfrm>
            <a:off x="7434858" y="5245179"/>
            <a:ext cx="31493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Achieve Mission Success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34858" y="574071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Force missile outrun or tracking loss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196697" y="6841569"/>
            <a:ext cx="12595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is framed as a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Reinforcement Learning problem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State → Action → Environment → Reward → Policy Update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37724" y="6572369"/>
            <a:ext cx="30480" cy="921425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66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1013" y="3015258"/>
            <a:ext cx="4643557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Initial Challenges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1441013" y="3891677"/>
            <a:ext cx="5775484" cy="1796058"/>
          </a:xfrm>
          <a:prstGeom prst="roundRect">
            <a:avLst>
              <a:gd name="adj" fmla="val 6109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18153" y="3891677"/>
            <a:ext cx="91440" cy="1796058"/>
          </a:xfrm>
          <a:prstGeom prst="roundRect">
            <a:avLst>
              <a:gd name="adj" fmla="val 323741"/>
            </a:avLst>
          </a:prstGeom>
          <a:solidFill>
            <a:srgbClr val="D7425E"/>
          </a:solidFill>
          <a:ln/>
        </p:spPr>
      </p:sp>
      <p:sp>
        <p:nvSpPr>
          <p:cNvPr id="6" name="Text 3"/>
          <p:cNvSpPr/>
          <p:nvPr/>
        </p:nvSpPr>
        <p:spPr>
          <a:xfrm>
            <a:off x="1729740" y="4111823"/>
            <a:ext cx="307169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Negative Reward Dominance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29740" y="4520327"/>
            <a:ext cx="5266611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Training episodes accumulated predominantly negative rewards, providing little positive reinforcement signal for the learning algorithm.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3784" y="3891677"/>
            <a:ext cx="5775484" cy="1796058"/>
          </a:xfrm>
          <a:prstGeom prst="roundRect">
            <a:avLst>
              <a:gd name="adj" fmla="val 6109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90924" y="3891677"/>
            <a:ext cx="91440" cy="1796058"/>
          </a:xfrm>
          <a:prstGeom prst="roundRect">
            <a:avLst>
              <a:gd name="adj" fmla="val 323741"/>
            </a:avLst>
          </a:prstGeom>
          <a:solidFill>
            <a:srgbClr val="D7425E"/>
          </a:solidFill>
          <a:ln/>
        </p:spPr>
      </p:sp>
      <p:sp>
        <p:nvSpPr>
          <p:cNvPr id="10" name="Text 7"/>
          <p:cNvSpPr/>
          <p:nvPr/>
        </p:nvSpPr>
        <p:spPr>
          <a:xfrm>
            <a:off x="7702510" y="4111823"/>
            <a:ext cx="2321719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Learning Instability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02510" y="4520327"/>
            <a:ext cx="5266611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Policy updates showed high variance with unstable convergence patterns across training iterations.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441013" y="5885021"/>
            <a:ext cx="5775484" cy="1796058"/>
          </a:xfrm>
          <a:prstGeom prst="roundRect">
            <a:avLst>
              <a:gd name="adj" fmla="val 6109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8153" y="5885021"/>
            <a:ext cx="91440" cy="1796058"/>
          </a:xfrm>
          <a:prstGeom prst="roundRect">
            <a:avLst>
              <a:gd name="adj" fmla="val 323741"/>
            </a:avLst>
          </a:prstGeom>
          <a:solidFill>
            <a:srgbClr val="D7425E"/>
          </a:solidFill>
          <a:ln/>
        </p:spPr>
      </p:sp>
      <p:sp>
        <p:nvSpPr>
          <p:cNvPr id="14" name="Text 11"/>
          <p:cNvSpPr/>
          <p:nvPr/>
        </p:nvSpPr>
        <p:spPr>
          <a:xfrm>
            <a:off x="1729740" y="6105168"/>
            <a:ext cx="259163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Random Agent Behavior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29740" y="6513671"/>
            <a:ext cx="5266611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Actions appeared disconnected from tactical objectives, with no clear progression toward effective evasion strategies.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413784" y="5885021"/>
            <a:ext cx="5775484" cy="1796058"/>
          </a:xfrm>
          <a:prstGeom prst="roundRect">
            <a:avLst>
              <a:gd name="adj" fmla="val 6109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90924" y="5885021"/>
            <a:ext cx="91440" cy="1796058"/>
          </a:xfrm>
          <a:prstGeom prst="roundRect">
            <a:avLst>
              <a:gd name="adj" fmla="val 323741"/>
            </a:avLst>
          </a:prstGeom>
          <a:solidFill>
            <a:srgbClr val="D7425E"/>
          </a:solidFill>
          <a:ln/>
        </p:spPr>
      </p:sp>
      <p:sp>
        <p:nvSpPr>
          <p:cNvPr id="18" name="Text 15"/>
          <p:cNvSpPr/>
          <p:nvPr/>
        </p:nvSpPr>
        <p:spPr>
          <a:xfrm>
            <a:off x="7702510" y="6105168"/>
            <a:ext cx="27466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Sparse Feedback Problem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02510" y="6513671"/>
            <a:ext cx="5266611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Environment relied on terminal rewards, offering minimal guidance between "good evasive behavior" and "bad or unsafe behavior" during flight.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1364" y="547211"/>
            <a:ext cx="5857161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Reward Structure Redesign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391364" y="1530548"/>
            <a:ext cx="1184767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comprehensive reward shaping approach was developed to provide continuous learning signals throughout each episode.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91364" y="2271832"/>
            <a:ext cx="407824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Step-wise (Continuous) Reward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91364" y="2952571"/>
            <a:ext cx="99417" cy="99417"/>
          </a:xfrm>
          <a:prstGeom prst="roundRect">
            <a:avLst>
              <a:gd name="adj" fmla="val 459881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1689735" y="2846903"/>
            <a:ext cx="2341364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Alive Bonus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89735" y="3338513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Positive reward for each timestep survived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391364" y="4160699"/>
            <a:ext cx="99417" cy="99417"/>
          </a:xfrm>
          <a:prstGeom prst="roundRect">
            <a:avLst>
              <a:gd name="adj" fmla="val 459881"/>
            </a:avLst>
          </a:prstGeom>
          <a:solidFill>
            <a:srgbClr val="D7425E"/>
          </a:solidFill>
          <a:ln/>
        </p:spPr>
      </p:sp>
      <p:sp>
        <p:nvSpPr>
          <p:cNvPr id="9" name="Text 7"/>
          <p:cNvSpPr/>
          <p:nvPr/>
        </p:nvSpPr>
        <p:spPr>
          <a:xfrm>
            <a:off x="1689735" y="4055031"/>
            <a:ext cx="2706053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Distance-Based Incentive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89735" y="4546640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scaled by separation from missile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91364" y="5368826"/>
            <a:ext cx="99417" cy="99417"/>
          </a:xfrm>
          <a:prstGeom prst="roundRect">
            <a:avLst>
              <a:gd name="adj" fmla="val 459881"/>
            </a:avLst>
          </a:prstGeom>
          <a:solidFill>
            <a:srgbClr val="DD785E"/>
          </a:solidFill>
          <a:ln/>
        </p:spPr>
      </p:sp>
      <p:sp>
        <p:nvSpPr>
          <p:cNvPr id="12" name="Text 10"/>
          <p:cNvSpPr/>
          <p:nvPr/>
        </p:nvSpPr>
        <p:spPr>
          <a:xfrm>
            <a:off x="1689735" y="5263158"/>
            <a:ext cx="2341364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Safety Penalties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9735" y="5754767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Negative feedback for low Mach or dangerous altitude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5588" y="2271832"/>
            <a:ext cx="280963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Terminal Reward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565588" y="2952571"/>
            <a:ext cx="99417" cy="99417"/>
          </a:xfrm>
          <a:prstGeom prst="roundRect">
            <a:avLst>
              <a:gd name="adj" fmla="val 459881"/>
            </a:avLst>
          </a:prstGeom>
          <a:solidFill>
            <a:srgbClr val="F2B42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959" y="2846903"/>
            <a:ext cx="2341364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Destruction Penalty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959" y="3338513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negative signal if F-16 is hit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65588" y="4160699"/>
            <a:ext cx="99417" cy="99417"/>
          </a:xfrm>
          <a:prstGeom prst="roundRect">
            <a:avLst>
              <a:gd name="adj" fmla="val 459881"/>
            </a:avLst>
          </a:prstGeom>
          <a:solidFill>
            <a:srgbClr val="D7425E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959" y="4055031"/>
            <a:ext cx="2341364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Success Reward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959" y="4546640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Positive terminal reward when missile loses target lock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65588" y="5368826"/>
            <a:ext cx="99417" cy="99417"/>
          </a:xfrm>
          <a:prstGeom prst="roundRect">
            <a:avLst>
              <a:gd name="adj" fmla="val 459881"/>
            </a:avLst>
          </a:prstGeom>
          <a:solidFill>
            <a:srgbClr val="DD785E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959" y="5263158"/>
            <a:ext cx="2341364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Outrun Bonus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63959" y="5754767"/>
            <a:ext cx="538269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Additional reward for successfully evading missile range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391364" y="6520934"/>
            <a:ext cx="11847671" cy="1164074"/>
          </a:xfrm>
          <a:prstGeom prst="roundRect">
            <a:avLst>
              <a:gd name="adj" fmla="val 25646"/>
            </a:avLst>
          </a:prstGeom>
          <a:solidFill>
            <a:srgbClr val="483304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318" y="6823948"/>
            <a:ext cx="248722" cy="19895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037993" y="6769537"/>
            <a:ext cx="11002089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converts the task into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guided learning problem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instead of a sparse one, enabling the agent to understand incremental progress toward survival.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3328" y="763429"/>
            <a:ext cx="5060752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Behavioral Meaning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913328" y="1718548"/>
            <a:ext cx="12803743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redesigned reward structure creates an interpretable objective function that aligns policy learning with realistic air-combat tactics.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28" y="2304455"/>
            <a:ext cx="1075373" cy="1290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03728" y="2519482"/>
            <a:ext cx="25303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Survival Value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203728" y="2964656"/>
            <a:ext cx="1151334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"Staying alive is valuable"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28" y="3594854"/>
            <a:ext cx="1075373" cy="12903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03728" y="3809881"/>
            <a:ext cx="25303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Distance Priority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2203728" y="4255056"/>
            <a:ext cx="1151334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"Creating distance from the missile is good"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8" y="4885253"/>
            <a:ext cx="1075373" cy="12903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03728" y="5100280"/>
            <a:ext cx="25303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Safety Awareness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2203728" y="5545455"/>
            <a:ext cx="1151334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"Flying too slow or too low is dangerous"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28" y="6175653"/>
            <a:ext cx="1075373" cy="12903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03728" y="6390680"/>
            <a:ext cx="25303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Success Definition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2203728" y="6835854"/>
            <a:ext cx="1151334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"Outrunning the missile is success"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1198364"/>
            <a:ext cx="10247114" cy="58328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76340" y="3551515"/>
            <a:ext cx="2123837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Original code</a:t>
            </a:r>
            <a:endParaRPr lang="en-US" sz="3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565" y="784979"/>
            <a:ext cx="5233392" cy="66621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9994" y="3564850"/>
            <a:ext cx="4767262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Modified code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569994" y="4363283"/>
            <a:ext cx="5783461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2552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Training Process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25266"/>
            <a:ext cx="392763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PPO-Based Training Execution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8361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agent was trained using Proximal Policy Optimization across multiple experimental phases: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Initial testing: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1,000+ episodes to validate reward structure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Extended training: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5,000 episodes for policy convergence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6971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7724" y="5408057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5559" y="548580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More stable learning curves with reduced variance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5255776" y="5408057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3611" y="548580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Decreased frequency of random crashes and failures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73828" y="5408057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51663" y="548580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Increased occurrence of "missile outrun" success events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7724" y="652105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Generated artifacts: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F-16 flight trajectories, missile paths, comprehensive environment statistics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2197" y="548997"/>
            <a:ext cx="4690110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Research Impact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1606391" y="1434108"/>
            <a:ext cx="22860" cy="3197185"/>
          </a:xfrm>
          <a:prstGeom prst="roundRect">
            <a:avLst>
              <a:gd name="adj" fmla="val 130794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07726" y="1646873"/>
            <a:ext cx="597932" cy="22860"/>
          </a:xfrm>
          <a:prstGeom prst="roundRect">
            <a:avLst>
              <a:gd name="adj" fmla="val 1307940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1382197" y="1434108"/>
            <a:ext cx="448389" cy="448389"/>
          </a:xfrm>
          <a:prstGeom prst="roundRect">
            <a:avLst>
              <a:gd name="adj" fmla="val 66682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5719" y="1482447"/>
            <a:ext cx="281345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03063" y="1502569"/>
            <a:ext cx="23450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Initial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3063" y="1915239"/>
            <a:ext cx="106451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"Simulation that runs"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807726" y="2845475"/>
            <a:ext cx="597932" cy="22860"/>
          </a:xfrm>
          <a:prstGeom prst="roundRect">
            <a:avLst>
              <a:gd name="adj" fmla="val 1307940"/>
            </a:avLst>
          </a:prstGeom>
          <a:solidFill>
            <a:srgbClr val="D7425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2197" y="2632710"/>
            <a:ext cx="448389" cy="448389"/>
          </a:xfrm>
          <a:prstGeom prst="roundRect">
            <a:avLst>
              <a:gd name="adj" fmla="val 66682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5719" y="2681049"/>
            <a:ext cx="281345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3063" y="2701171"/>
            <a:ext cx="23450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Evolution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3063" y="3113842"/>
            <a:ext cx="106451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redesign and training improvements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807726" y="4044077"/>
            <a:ext cx="597932" cy="22860"/>
          </a:xfrm>
          <a:prstGeom prst="roundRect">
            <a:avLst>
              <a:gd name="adj" fmla="val 1307940"/>
            </a:avLst>
          </a:prstGeom>
          <a:solidFill>
            <a:srgbClr val="DD78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2197" y="3831312"/>
            <a:ext cx="448389" cy="448389"/>
          </a:xfrm>
          <a:prstGeom prst="roundRect">
            <a:avLst>
              <a:gd name="adj" fmla="val 66682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5719" y="3879652"/>
            <a:ext cx="281345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3063" y="3899773"/>
            <a:ext cx="23450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3063" y="4312444"/>
            <a:ext cx="106451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"Simulation that can meaningfully learn"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82197" y="4930259"/>
            <a:ext cx="2814042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Improvements</a:t>
            </a:r>
            <a:endParaRPr lang="en-US" sz="2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2197" y="5581055"/>
            <a:ext cx="498277" cy="49827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29552" y="5699403"/>
            <a:ext cx="2423874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Stable Learning Signal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129552" y="6112073"/>
            <a:ext cx="3041928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 reward feedback enables reliable policy convergence across training runs</a:t>
            </a:r>
            <a:endParaRPr lang="en-US" sz="15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0558" y="5581055"/>
            <a:ext cx="498277" cy="49827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167914" y="5699403"/>
            <a:ext cx="304192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Interpretable Reward Behavior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167914" y="6405205"/>
            <a:ext cx="3041928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Clear correlation between reward components and agent actions simplifies debugging and analysis</a:t>
            </a:r>
            <a:endParaRPr lang="en-US" sz="15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58920" y="5581055"/>
            <a:ext cx="498277" cy="49827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206276" y="5699403"/>
            <a:ext cx="304192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Research-Ready Environment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0206276" y="6405205"/>
            <a:ext cx="3041928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Platform now supports policy comparison studies, hyperparameter optimization, and tactical behavior analysis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7672" y="707350"/>
            <a:ext cx="4693682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Next Direction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377672" y="1593175"/>
            <a:ext cx="11875056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Building on the stable foundation, the following enhancements will expand BVRGym's research capabilities and analytical depth.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577102" y="2435781"/>
            <a:ext cx="199430" cy="897493"/>
          </a:xfrm>
          <a:prstGeom prst="roundRect">
            <a:avLst>
              <a:gd name="adj" fmla="val 15004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7672" y="2304812"/>
            <a:ext cx="598408" cy="598408"/>
          </a:xfrm>
          <a:prstGeom prst="roundRect">
            <a:avLst>
              <a:gd name="adj" fmla="val 76403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7215" y="2454473"/>
            <a:ext cx="299204" cy="299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75510" y="2336006"/>
            <a:ext cx="2360890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Episode-Level Metrics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75510" y="2748915"/>
            <a:ext cx="11077218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comprehensive tracking for survival time, minimum missile distance, and categorized termination reasons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876306" y="3832027"/>
            <a:ext cx="199430" cy="897493"/>
          </a:xfrm>
          <a:prstGeom prst="roundRect">
            <a:avLst>
              <a:gd name="adj" fmla="val 150041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6876" y="3701058"/>
            <a:ext cx="598408" cy="598408"/>
          </a:xfrm>
          <a:prstGeom prst="roundRect">
            <a:avLst>
              <a:gd name="adj" fmla="val 76403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6419" y="3850719"/>
            <a:ext cx="299204" cy="299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74714" y="3732252"/>
            <a:ext cx="259401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Learning Curve Analysis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474714" y="4145161"/>
            <a:ext cx="1077801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visualizations for reward progression and survival time across training episodes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2175510" y="5228273"/>
            <a:ext cx="199430" cy="897493"/>
          </a:xfrm>
          <a:prstGeom prst="roundRect">
            <a:avLst>
              <a:gd name="adj" fmla="val 150041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76080" y="5097304"/>
            <a:ext cx="598408" cy="598408"/>
          </a:xfrm>
          <a:prstGeom prst="roundRect">
            <a:avLst>
              <a:gd name="adj" fmla="val 76403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5623" y="5246965"/>
            <a:ext cx="299204" cy="299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73918" y="5128498"/>
            <a:ext cx="2751177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Comparative Experiments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773918" y="5541407"/>
            <a:ext cx="1047881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Systematic evaluation of old reward structure versus new reward design to quantify improvements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2474714" y="6624518"/>
            <a:ext cx="199430" cy="897493"/>
          </a:xfrm>
          <a:prstGeom prst="roundRect">
            <a:avLst>
              <a:gd name="adj" fmla="val 150041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75284" y="6493550"/>
            <a:ext cx="598408" cy="598408"/>
          </a:xfrm>
          <a:prstGeom prst="roundRect">
            <a:avLst>
              <a:gd name="adj" fmla="val 76403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4827" y="6643211"/>
            <a:ext cx="299204" cy="299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073122" y="6524744"/>
            <a:ext cx="267938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Reproducible Framework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3073122" y="6937653"/>
            <a:ext cx="10179606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Establish standardized protocols and documentation for BVR evasion research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2026-01-15T01:32:15Z</dcterms:created>
  <dcterms:modified xsi:type="dcterms:W3CDTF">2026-01-15T01:32:15Z</dcterms:modified>
</cp:coreProperties>
</file>